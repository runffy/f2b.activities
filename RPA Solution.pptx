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2" r:id="rId2"/>
    <p:sldId id="263" r:id="rId3"/>
    <p:sldId id="266" r:id="rId4"/>
    <p:sldId id="27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8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2BC61F-F4D2-4C33-951D-EBB301CE5F9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08DC0-DAB8-40F8-94A2-2C3DA0D2AE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913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能力矩阵图清晰地展示了当前OpenRPA对不同业务系统的支持情况。可以看到，无论是嵌入式IE网页、现代网页还是终端屏幕，官方能力都无法满足需求。我们高度依赖Python扩展来实现自动化。这虽然解决了眼前的问题，但也暴露了一系列技术挑战，这正是我们需要进行技术栈升级的原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为什么我们必须从Python转向C#呢？核心原因在于性能、稳定性和可维护性。首先看参数传递能力，Python扩展非常受限，而C#扩展则非常灵活，这直接影响了代码的可维护性。其次，在工作流稳定性方面，Python扩展经常导致主程序无响应，而C#扩展则能提供稳定可靠的操作体验。此外，从长远的系统演进来看，C#依托成熟的企业级生态，能够显著降低系统的长期维护成本，为业务的持续发展提供坚实的技术支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评估的备选方案是`Python+RobotFramework`。通过对比可以发现，两个方案各有优劣。OpenRPA的优势在于其图形化界面，对非技术人员非常友好。而`Python+RobotFramework`则在灵活性、AI集成能力和系统性能方面表现更出色。这个备选方案为我们在特定场景下提供了有力的风险对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9CFA10-2590-F316-D009-E9E30942F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CD42BB-5350-354D-C935-57784B2E9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DAE439-0285-4AAD-E496-5F5BE272F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8BA13-C366-482A-A8C1-6CB8935C005F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B5611C-EF1F-E873-EB90-D98E0076D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4893EF-5863-D153-9683-44E9E6F71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5C95-2B0E-487B-AF7A-885920434B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892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449CE1-0FF0-A02A-7559-7EF61FA78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DBC51C-6682-7132-BC15-92AB04371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106130-4E2C-D998-3214-9892D57C5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8BA13-C366-482A-A8C1-6CB8935C005F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442110-8543-EFC0-2D05-48AF3A944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FE16A0-DCAF-5B18-7F5E-5EFB3FB8A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5C95-2B0E-487B-AF7A-885920434B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65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B98CF4-EF88-5633-D5CD-58415F91A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1EB7F0-E615-D3F4-7D30-8FB3666F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FE878C-A68D-706E-ACFA-18BC66C37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8BA13-C366-482A-A8C1-6CB8935C005F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836D5A-F31A-19FA-24CA-811883839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38A792-D2AD-27F6-6417-5B14777E6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5C95-2B0E-487B-AF7A-885920434B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86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D9D40-0615-4157-3D1F-CE88E838E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115136-FAC3-2FA5-551D-232315ABB8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3AC46A-0EEA-EDCD-075E-BFB28A206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332600-955B-639C-B366-63C7C5D38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8BA13-C366-482A-A8C1-6CB8935C005F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CB3EBB-7472-8CBC-FDC6-F000B48B7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0535AD-4643-DF0F-E6CA-4344551BF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5C95-2B0E-487B-AF7A-885920434B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285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EE371C-6982-EA22-954B-B6FF6EA37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BE2120-23FB-5D9A-112E-430B8FDC9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F07891-E5C8-1A01-AE7E-D46408F6C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25DE06-8F54-DE9A-E13E-4DD8ABEFDF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C891A4-53B5-368F-5FDD-320E685B74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3E3812-B73E-96AA-C36A-3D560EE7D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8BA13-C366-482A-A8C1-6CB8935C005F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9E6DAD-3326-3743-FD88-F1E562757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FA71D8D-BC7A-47CD-2348-E51A1D10D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5C95-2B0E-487B-AF7A-885920434B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90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F0336-BD18-7CEE-BFEF-52A4AE803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196C8C-7638-4106-C7FE-D571E46F7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8BA13-C366-482A-A8C1-6CB8935C005F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6747D63-0F50-776B-7A93-1471C14AB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DAE493-A310-7122-5E3E-691212F49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5C95-2B0E-487B-AF7A-885920434B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437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B50C782-ACFE-4194-6B0D-A3C645DF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8BA13-C366-482A-A8C1-6CB8935C005F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142B6D-C287-EAF2-CFF8-DF33D7ACE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5332B3-B809-7630-8EDC-77A384132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5C95-2B0E-487B-AF7A-885920434B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119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113B32-2AD7-C1D9-3629-3FB707228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015FF3-2F2B-C312-68A2-CAD6846F0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A794CB-2244-00CA-97C9-4F7ACC991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5F3DFB-C657-F2CC-B0B4-B37072C51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8BA13-C366-482A-A8C1-6CB8935C005F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1E5F6D-0889-B118-7E6E-3B15BB5FF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A3B737-7DF2-FD96-338F-4B97D102B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5C95-2B0E-487B-AF7A-885920434B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49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697CD-4717-5FB5-5E78-AEC64244E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F0BDE62-BC17-2B98-0F54-BFAAFFFA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1A291FB-2B04-1C05-E8B9-8DE46ACBF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7E8D07-8A20-F123-8BE4-BD6CE9152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8BA13-C366-482A-A8C1-6CB8935C005F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89ACB3-CF6C-0335-D502-FC4487CF9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C559B5-583C-007D-B84E-4D768095C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5C95-2B0E-487B-AF7A-885920434B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79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5EB1AB-A4D6-8271-8332-996AE4F03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CC93EA-5891-84E9-BAA5-D507493DA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0EBF5E-488A-F4FC-FB48-9706ECF53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8BA13-C366-482A-A8C1-6CB8935C005F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1F61CD-EE62-6053-EE1E-4FF9D5C76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1C993F-EE29-142E-0D26-7EF719310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5C95-2B0E-487B-AF7A-885920434B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029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AD7DAAD-0D8B-CC2D-AF9B-FE5B1D7E4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CCFEE1-7790-6D4B-8066-B52F97DA9E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2ABB95-D107-0CA7-F4EA-AA57281E8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8BA13-C366-482A-A8C1-6CB8935C005F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3B4828-0BB9-97D6-4406-0DB14F7D1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1A9EC1-2A85-2EBF-C9A8-C5E5EE1E9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5C95-2B0E-487B-AF7A-885920434B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493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7665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5F7731-07B4-1101-723D-F47A6F5BF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27B458-DD63-9D35-76B7-E78E81A9D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92E720-0191-6DF0-D47F-4BAE2133DC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8BA13-C366-482A-A8C1-6CB8935C005F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1A7765-5E0A-34D8-27C3-24999FEC4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904872-0AC4-1E8E-A171-CD9EBAB1C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65C95-2B0E-487B-AF7A-885920434B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411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912100" y="0"/>
            <a:ext cx="4279900" cy="927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effectLst>
                  <a:outerShdw blurRad="38100" dist="25400" dir="2700000" algn="tl" rotWithShape="0">
                    <a:srgbClr val="000000">
                      <a:alpha val="40000"/>
                    </a:srgbClr>
                  </a:outerShdw>
                </a:effectLst>
                <a:latin typeface="等线"/>
                <a:ea typeface="等线"/>
                <a:cs typeface="等线"/>
                <a:sym typeface="等线"/>
              </a:rPr>
              <a:t>现状分析</a:t>
            </a:r>
            <a:endParaRPr lang="en-US" sz="1100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318846"/>
              </p:ext>
            </p:extLst>
          </p:nvPr>
        </p:nvGraphicFramePr>
        <p:xfrm>
          <a:off x="190500" y="698500"/>
          <a:ext cx="11912600" cy="344174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37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9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系统类别</a:t>
                      </a:r>
                      <a:endParaRPr lang="en-US" sz="1100"/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具体系统</a:t>
                      </a:r>
                      <a:endParaRPr lang="en-US" sz="1100"/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官方原生能力</a:t>
                      </a:r>
                      <a:endParaRPr lang="en-US" sz="1100"/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Python扩展能力</a:t>
                      </a:r>
                      <a:endParaRPr lang="en-US" sz="1100"/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C# 扩展能力</a:t>
                      </a:r>
                      <a:endParaRPr lang="en-US" sz="1100"/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68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嵌入式IE网页</a:t>
                      </a:r>
                      <a:endParaRPr lang="en-US" sz="1100"/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GWIS, GWIS Gold</a:t>
                      </a:r>
                      <a:endParaRPr lang="en-US" sz="1100"/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B91C1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不支持</a:t>
                      </a:r>
                      <a:endParaRPr lang="en-US" sz="1100"/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已实现</a:t>
                      </a:r>
                      <a:endParaRPr lang="en-US" sz="1100"/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A580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规划中</a:t>
                      </a:r>
                      <a:endParaRPr lang="en-US" sz="1100"/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26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现代网页应用</a:t>
                      </a:r>
                      <a:endParaRPr lang="en-US" sz="1100"/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MWS, CRT, CRMS</a:t>
                      </a:r>
                      <a:endParaRPr lang="en-US" sz="1100"/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B91C1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不支持</a:t>
                      </a:r>
                      <a:endParaRPr lang="en-US" sz="1100"/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已实现</a:t>
                      </a:r>
                      <a:endParaRPr lang="en-US" sz="1100"/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已实现</a:t>
                      </a:r>
                      <a:endParaRPr lang="en-US" sz="1100"/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26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终端屏幕系统</a:t>
                      </a:r>
                      <a:endParaRPr lang="en-US" sz="1100"/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OBS, Control-D</a:t>
                      </a:r>
                      <a:endParaRPr lang="en-US" sz="1100"/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B91C1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不支持</a:t>
                      </a:r>
                      <a:endParaRPr lang="en-US" sz="1100"/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已实现</a:t>
                      </a:r>
                      <a:endParaRPr lang="en-US" sz="1100"/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A580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规划中</a:t>
                      </a:r>
                      <a:endParaRPr lang="en-US" sz="1100"/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5527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8333"/>
                        </a:lnSpc>
                        <a:defRPr/>
                      </a:pPr>
                      <a:r>
                        <a:rPr lang="zh-CN" altLang="en-US" sz="1600" b="0" i="0" u="none" strike="noStrike" kern="1200">
                          <a:solidFill>
                            <a:srgbClr val="000000"/>
                          </a:solidFill>
                          <a:latin typeface="Noto Sans SC"/>
                        </a:rPr>
                        <a:t>微软生态产品</a:t>
                      </a:r>
                      <a:endParaRPr lang="en-US" sz="1600" b="0" i="0" u="none" strike="noStrike" kern="1200">
                        <a:solidFill>
                          <a:srgbClr val="000000"/>
                        </a:solidFill>
                        <a:latin typeface="Noto Sans SC"/>
                      </a:endParaRPr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8333"/>
                        </a:lnSpc>
                        <a:defRPr/>
                      </a:pPr>
                      <a:r>
                        <a:rPr lang="en-US" sz="1500" b="0" i="0" u="none" strike="noStrike" kern="1200">
                          <a:solidFill>
                            <a:srgbClr val="000000"/>
                          </a:solidFill>
                          <a:latin typeface="Noto Sans SC"/>
                        </a:rPr>
                        <a:t>E</a:t>
                      </a:r>
                      <a:r>
                        <a:rPr lang="en-US" altLang="zh-CN" sz="1500" b="0" i="0" u="none" strike="noStrike" kern="1200">
                          <a:solidFill>
                            <a:srgbClr val="000000"/>
                          </a:solidFill>
                          <a:latin typeface="Noto Sans SC"/>
                        </a:rPr>
                        <a:t>xcel,</a:t>
                      </a:r>
                      <a:r>
                        <a:rPr lang="zh-CN" altLang="en-US" sz="1500" b="0" i="0" u="none" strike="noStrike" kern="1200">
                          <a:solidFill>
                            <a:srgbClr val="000000"/>
                          </a:solidFill>
                          <a:latin typeface="Noto Sans SC"/>
                        </a:rPr>
                        <a:t> </a:t>
                      </a:r>
                      <a:r>
                        <a:rPr lang="en-US" altLang="zh-CN" sz="1500" b="0" i="0" u="none" strike="noStrike" kern="1200">
                          <a:solidFill>
                            <a:srgbClr val="000000"/>
                          </a:solidFill>
                          <a:latin typeface="Noto Sans SC"/>
                        </a:rPr>
                        <a:t>Outlook, Word</a:t>
                      </a:r>
                      <a:endParaRPr lang="en-US" sz="1500" b="0" i="0" u="none" strike="noStrike" kern="1200">
                        <a:solidFill>
                          <a:srgbClr val="000000"/>
                        </a:solidFill>
                        <a:latin typeface="Noto Sans SC"/>
                      </a:endParaRPr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i="0" u="none" strike="noStrike" kern="1200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支持</a:t>
                      </a:r>
                      <a:endParaRPr lang="en-US" altLang="zh-CN" sz="1600" b="1" i="0" u="none" strike="noStrike" kern="1200">
                        <a:solidFill>
                          <a:srgbClr val="15803D"/>
                        </a:solidFill>
                        <a:latin typeface="Noto Sans SC"/>
                      </a:endParaRPr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600" b="1" i="0" u="none" strike="noStrike" kern="1200">
                          <a:solidFill>
                            <a:srgbClr val="B91C1C"/>
                          </a:solidFill>
                          <a:latin typeface="Noto Sans SC"/>
                        </a:rPr>
                        <a:t>/</a:t>
                      </a:r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600" b="1" i="0" u="none" strike="noStrike" kern="1200">
                          <a:solidFill>
                            <a:srgbClr val="B91C1C"/>
                          </a:solidFill>
                          <a:latin typeface="Noto Sans SC"/>
                        </a:rPr>
                        <a:t>/</a:t>
                      </a:r>
                    </a:p>
                  </a:txBody>
                  <a:tcPr marL="88900" marR="889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372989"/>
                  </a:ext>
                </a:extLst>
              </a:tr>
            </a:tbl>
          </a:graphicData>
        </a:graphic>
      </p:graphicFrame>
      <p:sp>
        <p:nvSpPr>
          <p:cNvPr id="4" name="AutoShape 4"/>
          <p:cNvSpPr/>
          <p:nvPr/>
        </p:nvSpPr>
        <p:spPr>
          <a:xfrm>
            <a:off x="139700" y="4254500"/>
            <a:ext cx="11785600" cy="635000"/>
          </a:xfrm>
          <a:prstGeom prst="roundRect">
            <a:avLst>
              <a:gd name="adj" fmla="val 32000"/>
            </a:avLst>
          </a:prstGeom>
          <a:solidFill>
            <a:srgbClr val="FEF3C7">
              <a:alpha val="100000"/>
            </a:srgbClr>
          </a:solidFill>
          <a:ln w="12700" cap="flat" cmpd="sng">
            <a:solidFill>
              <a:srgbClr val="F59E0B">
                <a:alpha val="100000"/>
              </a:srgbClr>
            </a:solidFill>
            <a:prstDash val="solid"/>
            <a:round/>
          </a:ln>
        </p:spPr>
        <p:txBody>
          <a:bodyPr vert="horz" wrap="square" lIns="190500" tIns="0" rIns="19050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💡 当前的自动化能力高度依赖于 Python 扩展脚本，这虽然解决了燃眉之急，但也带来了新的技术挑战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39700" y="5080000"/>
            <a:ext cx="5778500" cy="1397000"/>
          </a:xfrm>
          <a:prstGeom prst="roundRect">
            <a:avLst>
              <a:gd name="adj" fmla="val 14545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190500" tIns="152400" rIns="19050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技术现状：Python “一枝独秀”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作为当前的主力实现方式，Python 脚本已覆盖所有核心场景。但</a:t>
            </a:r>
            <a:r>
              <a:rPr lang="zh-CN" alt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始终与</a:t>
            </a:r>
            <a:r>
              <a:rPr lang="en-US" altLang="zh-CN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OpenRPA</a:t>
            </a:r>
            <a:r>
              <a:rPr lang="zh-CN" alt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底层语言有所不同，在</a:t>
            </a:r>
            <a:r>
              <a:rPr lang="en-US" altLang="zh-CN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OpenRPA</a:t>
            </a:r>
            <a:r>
              <a:rPr lang="zh-CN" alt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调用</a:t>
            </a:r>
            <a:r>
              <a:rPr lang="en-US" altLang="zh-CN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Python</a:t>
            </a:r>
            <a:r>
              <a:rPr lang="zh-CN" alt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扩展的时候，会导致</a:t>
            </a:r>
            <a:r>
              <a:rPr lang="en-US" altLang="zh-CN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OpenRPA</a:t>
            </a:r>
            <a:r>
              <a:rPr lang="zh-CN" alt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处于未响应的状态，且随着项目体积增大，开发难度和运维难度也相应有所增加</a:t>
            </a:r>
            <a:endParaRPr lang="en-US" sz="1300" b="0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146800" y="5080000"/>
            <a:ext cx="5778500" cy="1397000"/>
          </a:xfrm>
          <a:prstGeom prst="roundRect">
            <a:avLst>
              <a:gd name="adj" fmla="val 14545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190500" tIns="152400" rIns="19050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未来方向：C# 扩展规划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zh-CN" altLang="en-US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将现有</a:t>
            </a:r>
            <a:r>
              <a:rPr lang="en-US" altLang="zh-CN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Python</a:t>
            </a:r>
            <a:r>
              <a:rPr lang="zh-CN" altLang="en-US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扩展能力同步使用</a:t>
            </a:r>
            <a:r>
              <a:rPr lang="en-US" altLang="zh-CN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C#</a:t>
            </a:r>
            <a:r>
              <a:rPr lang="zh-CN" altLang="en-US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来开发，逐渐替代</a:t>
            </a:r>
            <a:r>
              <a:rPr lang="en-US" altLang="zh-CN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Python</a:t>
            </a:r>
            <a:r>
              <a:rPr lang="zh-CN" altLang="en-US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扩展。因为</a:t>
            </a:r>
            <a:r>
              <a:rPr lang="en-US" altLang="zh-CN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OpenRPA</a:t>
            </a:r>
            <a:r>
              <a:rPr lang="zh-CN" altLang="en-US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的底层语言就是</a:t>
            </a:r>
            <a:r>
              <a:rPr lang="en-US" altLang="zh-CN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C#</a:t>
            </a:r>
            <a:r>
              <a:rPr lang="zh-CN" altLang="en-US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，所以</a:t>
            </a:r>
            <a:r>
              <a:rPr lang="en-US" altLang="zh-CN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C#</a:t>
            </a:r>
            <a:r>
              <a:rPr lang="zh-CN" altLang="en-US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扩展天然与</a:t>
            </a:r>
            <a:r>
              <a:rPr lang="en-US" altLang="zh-CN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OpenRPA</a:t>
            </a:r>
            <a:r>
              <a:rPr lang="zh-CN" altLang="en-US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契合度更高更友好，便于开发和维护工作的展开</a:t>
            </a:r>
            <a:endParaRPr lang="en-US" sz="1300" b="0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99183" y="0"/>
            <a:ext cx="5492817" cy="927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91666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effectLst>
                  <a:outerShdw blurRad="38100" dist="25400" dir="2700000" algn="tl" rotWithShape="0">
                    <a:srgbClr val="000000">
                      <a:alpha val="40000"/>
                    </a:srgbClr>
                  </a:outerShdw>
                </a:effectLst>
                <a:latin typeface="等线"/>
                <a:ea typeface="等线"/>
                <a:cs typeface="等线"/>
                <a:sym typeface="等线"/>
              </a:rPr>
              <a:t>为何从Python转向C#扩展？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800100"/>
            <a:ext cx="6985000" cy="52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000000"/>
                </a:solidFill>
                <a:effectLst>
                  <a:outerShdw blurRad="38100" dist="25400" dir="2700000" algn="tl" rotWithShape="0">
                    <a:srgbClr val="000000">
                      <a:alpha val="40000"/>
                    </a:srgbClr>
                  </a:outerShdw>
                </a:effectLst>
                <a:latin typeface="等线"/>
                <a:ea typeface="等线"/>
                <a:cs typeface="等线"/>
                <a:sym typeface="等线"/>
              </a:rPr>
              <a:t>基于</a:t>
            </a:r>
            <a:r>
              <a:rPr lang="en-US" sz="2000" b="1" i="0" u="none" strike="noStrike">
                <a:solidFill>
                  <a:srgbClr val="000000"/>
                </a:solidFill>
                <a:effectLst>
                  <a:outerShdw blurRad="38100" dist="25400" dir="2700000" algn="tl" rotWithShape="0">
                    <a:srgbClr val="000000">
                      <a:alpha val="40000"/>
                    </a:srgbClr>
                  </a:outerShdw>
                </a:effectLst>
                <a:latin typeface="等线"/>
                <a:ea typeface="等线"/>
                <a:cs typeface="等线"/>
                <a:sym typeface="等线"/>
              </a:rPr>
              <a:t>性能 · 稳定性 · 可维护性 · 用户体验</a:t>
            </a:r>
            <a:r>
              <a:rPr lang="en-US" sz="2000" b="0" i="0" u="none" strike="noStrike">
                <a:solidFill>
                  <a:srgbClr val="000000"/>
                </a:solidFill>
                <a:effectLst>
                  <a:outerShdw blurRad="38100" dist="25400" dir="2700000" algn="tl" rotWithShape="0">
                    <a:srgbClr val="000000">
                      <a:alpha val="40000"/>
                    </a:srgbClr>
                  </a:outerShdw>
                </a:effectLst>
                <a:latin typeface="等线"/>
                <a:ea typeface="等线"/>
                <a:cs typeface="等线"/>
                <a:sym typeface="等线"/>
              </a:rPr>
              <a:t>的综合技术升级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749565"/>
              </p:ext>
            </p:extLst>
          </p:nvPr>
        </p:nvGraphicFramePr>
        <p:xfrm>
          <a:off x="139700" y="1320800"/>
          <a:ext cx="11684000" cy="317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评估维度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Python 扩展 (现状/痛点)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53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C# 扩展 (目标/优势)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BC0DE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参数传递能力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333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严重受限：</a:t>
                      </a:r>
                      <a:r>
                        <a:rPr lang="en-US" sz="14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仅支持单输入/输出模式，逻辑封装困难，随着业务复杂度增加，代码结构混乱，维护成本急剧上升。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A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333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灵活高效：</a:t>
                      </a:r>
                      <a:r>
                        <a:rPr lang="en-US" sz="14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原生支持任意数量的参数定义与传递，配合强类型系统，代码结构清晰规范，显著提升开发与协作效率。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F5F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工作流稳定性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333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不稳定风险：</a:t>
                      </a:r>
                      <a:r>
                        <a:rPr lang="en-US" sz="14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多进程隔离导致进程间通信高延迟，易出现“黑屏”或主程序无响应，且无法通过UI正常停止任务。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A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333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极致稳定：</a:t>
                      </a:r>
                      <a:r>
                        <a:rPr lang="en-US" sz="14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进程内无缝集成，彻底消除跨进程通信损耗，支持任务随时安全中断，保证核心业务连续性。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F5F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15768"/>
              </p:ext>
            </p:extLst>
          </p:nvPr>
        </p:nvGraphicFramePr>
        <p:xfrm>
          <a:off x="139700" y="4691514"/>
          <a:ext cx="11684000" cy="203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综合价值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维护与演进挑战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AD4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长期收益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CB85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系统演进与生态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333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社区资源分散，缺乏企业级官方维护，在复杂的企业级场景下难以保证长期的迭代支持与安全更新。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3E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333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依托微软成熟的 .NET 生态与强类型语言优势，代码可读性高，易于团队维护与长期迭代，契合企业级软件发展标准。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763000" y="0"/>
            <a:ext cx="3429000" cy="927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5400" b="0" i="0" u="none" strike="noStrike">
                <a:solidFill>
                  <a:srgbClr val="000000"/>
                </a:solidFill>
                <a:effectLst>
                  <a:outerShdw blurRad="38100" dist="25400" dir="2700000" algn="tl" rotWithShape="0">
                    <a:srgbClr val="000000">
                      <a:alpha val="40000"/>
                    </a:srgbClr>
                  </a:outerShdw>
                </a:effectLst>
                <a:latin typeface="等线"/>
                <a:ea typeface="等线"/>
                <a:cs typeface="等线"/>
                <a:sym typeface="等线"/>
              </a:rPr>
              <a:t>推进计划</a:t>
            </a:r>
            <a:endParaRPr lang="en-US" sz="1100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719198"/>
              </p:ext>
            </p:extLst>
          </p:nvPr>
        </p:nvGraphicFramePr>
        <p:xfrm>
          <a:off x="463550" y="1587500"/>
          <a:ext cx="11264900" cy="3683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Index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任务与目标 (Task &amp; Goal)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预期成果 (Expected Outcome)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01</a:t>
                      </a:r>
                      <a:endParaRPr lang="en-US" sz="1100"/>
                    </a:p>
                  </a:txBody>
                  <a:tcPr marL="88900" marR="88900" marT="127000" marB="127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333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核心任务：</a:t>
                      </a: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使用C#为OpenRPA实现所有必要的扩展，确保功能与现有Python扩展完全对齐，并在此基础上进行优化。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1" i="0" u="none" strike="noStrike" kern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关键目标：</a:t>
                      </a:r>
                      <a:r>
                        <a:rPr lang="en-US" altLang="zh-CN" sz="1300" b="0" i="0" u="none" strike="noStrike" kern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 完成三大类系统的C#扩展全面覆盖。</a:t>
                      </a:r>
                      <a:br>
                        <a:rPr lang="en-US" altLang="zh-CN" sz="1300" b="0" i="0" u="none" strike="noStrike" kern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altLang="zh-CN" sz="1300" b="0" i="0" u="none" strike="noStrike" kern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 确保C#扩展性能全面超越原Python版本。</a:t>
                      </a:r>
                      <a:endParaRPr lang="en-US" altLang="zh-CN" sz="1300" b="0" i="0" u="none" strike="noStrike" kern="1200">
                        <a:solidFill>
                          <a:srgbClr val="1F2329"/>
                        </a:solidFill>
                        <a:latin typeface="Noto Sans SC"/>
                      </a:endParaRPr>
                    </a:p>
                  </a:txBody>
                  <a:tcPr marL="127000" marR="127000" marT="152400" marB="152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完成扩展库的重构，形成一套</a:t>
                      </a: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稳定、高效、可维护</a:t>
                      </a: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的官方扩展库，统一技术栈标准。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kern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显著提升平台运行效率，</a:t>
                      </a:r>
                      <a:r>
                        <a:rPr lang="en-US" altLang="zh-CN" sz="1300" b="1" i="0" u="none" strike="noStrike" kern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为将OpenRPA </a:t>
                      </a:r>
                      <a:r>
                        <a:rPr lang="zh-CN" altLang="en-US" sz="1300" b="1" i="0" u="none" strike="noStrike" kern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的正式推广</a:t>
                      </a:r>
                      <a:r>
                        <a:rPr lang="en-US" altLang="zh-CN" sz="1300" b="0" i="0" u="none" strike="noStrike" kern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铺平技术道路。</a:t>
                      </a:r>
                      <a:endParaRPr lang="en-US" altLang="zh-CN" sz="1300" b="0" i="0" u="none" strike="noStrike" kern="1200">
                        <a:solidFill>
                          <a:srgbClr val="1F2329"/>
                        </a:solidFill>
                        <a:latin typeface="Noto Sans SC"/>
                      </a:endParaRPr>
                    </a:p>
                  </a:txBody>
                  <a:tcPr marL="127000" marR="127000" marT="152400" marB="152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02</a:t>
                      </a:r>
                      <a:endParaRPr lang="en-US" sz="1100"/>
                    </a:p>
                  </a:txBody>
                  <a:tcPr marL="88900" marR="88900" marT="127000" marB="127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1" i="0" u="none" strike="noStrike" kern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核心任务：</a:t>
                      </a:r>
                      <a:r>
                        <a:rPr lang="en-US" altLang="zh-CN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基于当前版本的OpenRPA进行二次开发，全面对标行业领导者（如UiPath），在功能完备性和用户交互体验上缩小差距。</a:t>
                      </a:r>
                      <a:endParaRPr lang="en-US" altLang="zh-CN" sz="1000"/>
                    </a:p>
                    <a:p>
                      <a:pPr marL="0" indent="0" algn="l">
                        <a:lnSpc>
                          <a:spcPct val="108333"/>
                        </a:lnSpc>
                        <a:defRPr/>
                      </a:pPr>
                      <a:r>
                        <a:rPr lang="en-US" altLang="zh-CN" sz="1500" b="1" i="0" u="none" strike="noStrike" kern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关键优化：功能与库扩展</a:t>
                      </a:r>
                      <a:endParaRPr lang="en-US" altLang="zh-CN" sz="1500" b="1" i="0" u="none" strike="noStrike" kern="1200">
                        <a:solidFill>
                          <a:srgbClr val="000000"/>
                        </a:solidFill>
                        <a:latin typeface="Noto Sans SC"/>
                      </a:endParaRPr>
                    </a:p>
                    <a:p>
                      <a:pPr marL="0" indent="0" algn="l">
                        <a:lnSpc>
                          <a:spcPct val="108333"/>
                        </a:lnSpc>
                      </a:pPr>
                      <a:r>
                        <a:rPr lang="en-US" altLang="zh-CN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 优化屏幕录制器的智能识别与录制逻辑。</a:t>
                      </a:r>
                      <a:br>
                        <a:rPr lang="en-US" altLang="zh-CN" sz="14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altLang="zh-CN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 扩充预置高级活动库，</a:t>
                      </a:r>
                      <a:r>
                        <a:rPr lang="zh-CN" alt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将前期测试稳定的必要扩展添加为</a:t>
                      </a:r>
                      <a:r>
                        <a:rPr lang="en-US" altLang="zh-CN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OpenRPA</a:t>
                      </a:r>
                      <a:r>
                        <a:rPr lang="zh-CN" alt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自带能力。</a:t>
                      </a:r>
                      <a:endParaRPr lang="en-US" altLang="zh-CN" sz="1100" b="0" i="0" u="none" strike="noStrike">
                        <a:solidFill>
                          <a:srgbClr val="374151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  <a:p>
                      <a:pPr marL="0" indent="0" algn="l">
                        <a:lnSpc>
                          <a:spcPct val="108333"/>
                        </a:lnSpc>
                      </a:pPr>
                      <a:r>
                        <a:rPr lang="en-US" altLang="zh-CN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3. </a:t>
                      </a:r>
                      <a:r>
                        <a:rPr lang="zh-CN" alt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优化开发工具的使用体验，增加开发</a:t>
                      </a:r>
                      <a:r>
                        <a:rPr lang="en-US" altLang="zh-CN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zh-CN" alt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调试效率。</a:t>
                      </a:r>
                      <a:endParaRPr lang="en-US" altLang="zh-CN" sz="1100" b="0" i="0" u="none" strike="noStrike">
                        <a:solidFill>
                          <a:srgbClr val="374151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27000" marR="127000" marT="152400" marB="152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显著提升OpenRPA产品的</a:t>
                      </a:r>
                      <a:r>
                        <a:rPr lang="zh-CN" alt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综合能</a:t>
                      </a:r>
                      <a:r>
                        <a:rPr lang="en-US" altLang="zh-CN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力，解决现有版本功能痛点，大幅优化最终用户的操作体验。</a:t>
                      </a:r>
                      <a:endParaRPr lang="en-US" altLang="zh-CN" sz="1000"/>
                    </a:p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endParaRPr lang="en-US" sz="1100"/>
                    </a:p>
                  </a:txBody>
                  <a:tcPr marL="127000" marR="127000" marT="152400" marB="152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77000" y="127000"/>
            <a:ext cx="546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0" rIns="12700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OpenRPA vs. Python+RobotFramework 深度对比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4000" y="254000"/>
            <a:ext cx="609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0" rIns="12700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为确保项目稳健性，评估备选技术方案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148584"/>
              </p:ext>
            </p:extLst>
          </p:nvPr>
        </p:nvGraphicFramePr>
        <p:xfrm>
          <a:off x="254000" y="1016000"/>
          <a:ext cx="11176000" cy="4953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对比维度</a:t>
                      </a:r>
                      <a:endParaRPr lang="en-US" sz="1100"/>
                    </a:p>
                  </a:txBody>
                  <a:tcPr marL="127000" marR="1270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OpenRPA</a:t>
                      </a:r>
                      <a:endParaRPr lang="en-US" sz="1100"/>
                    </a:p>
                  </a:txBody>
                  <a:tcPr marL="127000" marR="1270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Python + RobotFramework</a:t>
                      </a:r>
                      <a:endParaRPr lang="en-US" sz="1100"/>
                    </a:p>
                  </a:txBody>
                  <a:tcPr marL="127000" marR="1270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用户界面</a:t>
                      </a:r>
                      <a:endParaRPr lang="en-US" sz="1100"/>
                    </a:p>
                  </a:txBody>
                  <a:tcPr marL="127000" marR="1270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F2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333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E3C7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图形化UI (GUI)</a:t>
                      </a:r>
                      <a:br>
                        <a:rPr lang="en-US" sz="16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300" b="0" i="0" u="none" strike="noStrike">
                          <a:solidFill>
                            <a:srgbClr val="3C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操作直观，便于C</a:t>
                      </a:r>
                      <a:r>
                        <a:rPr lang="en-US" altLang="zh-CN" sz="1300" b="0" i="0" u="none" strike="noStrike">
                          <a:solidFill>
                            <a:srgbClr val="3C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itizen</a:t>
                      </a:r>
                      <a:r>
                        <a:rPr lang="en-US" sz="1300" b="0" i="0" u="none" strike="noStrike">
                          <a:solidFill>
                            <a:srgbClr val="3C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拖拽式构建流程，上手门槛低。</a:t>
                      </a:r>
                      <a:endParaRPr lang="en-US" sz="1100"/>
                    </a:p>
                  </a:txBody>
                  <a:tcPr marL="190500" marR="1905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333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B94A4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纯代码 / 文本视图</a:t>
                      </a:r>
                      <a:br>
                        <a:rPr lang="en-US" sz="16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300" b="0" i="0" u="none" strike="noStrike">
                          <a:solidFill>
                            <a:srgbClr val="3C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</a:t>
                      </a:r>
                      <a:r>
                        <a:rPr lang="zh-CN" altLang="en-US" sz="1300" b="0" i="0" u="none" strike="noStrike">
                          <a:solidFill>
                            <a:srgbClr val="3C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有一定代码基础的</a:t>
                      </a:r>
                      <a:r>
                        <a:rPr lang="en-US" sz="1300" b="0" i="0" u="none" strike="noStrike">
                          <a:solidFill>
                            <a:srgbClr val="3C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开发者友好，代码逻辑清晰，定制化灵活性极高。</a:t>
                      </a:r>
                      <a:endParaRPr lang="en-US" sz="1100"/>
                    </a:p>
                  </a:txBody>
                  <a:tcPr marL="190500" marR="1905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</a:t>
                      </a:r>
                      <a:r>
                        <a:rPr lang="zh-CN" altLang="en-US" sz="16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介入</a:t>
                      </a:r>
                      <a:r>
                        <a:rPr lang="en-US" sz="16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能力</a:t>
                      </a:r>
                      <a:endParaRPr lang="en-US" sz="1100"/>
                    </a:p>
                  </a:txBody>
                  <a:tcPr marL="127000" marR="1270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F2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333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E3C7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基本不支持</a:t>
                      </a:r>
                      <a:br>
                        <a:rPr lang="en-US" sz="16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zh-CN" altLang="en-US" sz="1300" b="0" i="0" u="none" strike="noStrike">
                          <a:solidFill>
                            <a:srgbClr val="3C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且流程难以通过</a:t>
                      </a:r>
                      <a:r>
                        <a:rPr lang="en-US" altLang="zh-CN" sz="1300" b="0" i="0" u="none" strike="noStrike">
                          <a:solidFill>
                            <a:srgbClr val="3C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</a:t>
                      </a:r>
                      <a:r>
                        <a:rPr lang="zh-CN" altLang="en-US" sz="1300" b="0" i="0" u="none" strike="noStrike">
                          <a:solidFill>
                            <a:srgbClr val="3C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进行生成或问题分析。</a:t>
                      </a:r>
                      <a:endParaRPr lang="en-US" sz="1100"/>
                    </a:p>
                  </a:txBody>
                  <a:tcPr marL="190500" marR="1905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333"/>
                        </a:lnSpc>
                        <a:defRPr/>
                      </a:pPr>
                      <a:r>
                        <a:rPr lang="zh-CN" altLang="en-US" sz="1400" b="1" i="0" u="none" strike="noStrike">
                          <a:solidFill>
                            <a:srgbClr val="B94A4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轻松驾驭</a:t>
                      </a:r>
                      <a:br>
                        <a:rPr lang="en-US" sz="16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zh-CN" altLang="en-US" sz="1300" b="0" i="0" u="none" strike="noStrike" kern="1200">
                          <a:solidFill>
                            <a:srgbClr val="3C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代码可以轻松使用</a:t>
                      </a:r>
                      <a:r>
                        <a:rPr lang="en-US" altLang="zh-CN" sz="1300" b="0" i="0" u="none" strike="noStrike" kern="1200">
                          <a:solidFill>
                            <a:srgbClr val="3C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</a:t>
                      </a:r>
                      <a:r>
                        <a:rPr lang="zh-CN" altLang="en-US" sz="1300" b="0" i="0" u="none" strike="noStrike" kern="1200">
                          <a:solidFill>
                            <a:srgbClr val="3C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进行分析或撰写，用户只需要懂得如何描述需求即可，若能有些许编码基础则更胜一筹。</a:t>
                      </a:r>
                      <a:endParaRPr lang="en-US" sz="1300" b="0" i="0" u="none" strike="noStrike" kern="1200">
                        <a:solidFill>
                          <a:srgbClr val="3C3C3C"/>
                        </a:solidFill>
                        <a:latin typeface="Noto Sans SC"/>
                      </a:endParaRPr>
                    </a:p>
                  </a:txBody>
                  <a:tcPr marL="190500" marR="1905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系统资源占用</a:t>
                      </a:r>
                      <a:endParaRPr lang="en-US" sz="1100"/>
                    </a:p>
                  </a:txBody>
                  <a:tcPr marL="127000" marR="1270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F2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333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E3C7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占用较大</a:t>
                      </a:r>
                      <a:br>
                        <a:rPr lang="en-US" sz="16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300" b="0" i="0" u="none" strike="noStrike">
                          <a:solidFill>
                            <a:srgbClr val="3C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基于完整桌面应用架构，运行时对内存与CPU消耗较高。</a:t>
                      </a:r>
                      <a:endParaRPr lang="en-US" sz="1100"/>
                    </a:p>
                  </a:txBody>
                  <a:tcPr marL="190500" marR="1905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333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B94A4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极致轻量</a:t>
                      </a:r>
                      <a:br>
                        <a:rPr lang="en-US" sz="16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300" b="0" i="0" u="none" strike="noStrike">
                          <a:solidFill>
                            <a:srgbClr val="3C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仅依赖Python运行环境，无多余进程，对系统性能影响极小。</a:t>
                      </a:r>
                      <a:endParaRPr lang="en-US" sz="1100"/>
                    </a:p>
                  </a:txBody>
                  <a:tcPr marL="190500" marR="1905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254000" y="6096000"/>
            <a:ext cx="11684000" cy="635000"/>
          </a:xfrm>
          <a:prstGeom prst="roundRect">
            <a:avLst>
              <a:gd name="adj" fmla="val 0"/>
            </a:avLst>
          </a:prstGeom>
          <a:solidFill>
            <a:srgbClr val="FFFBEB">
              <a:alpha val="100000"/>
            </a:srgbClr>
          </a:solidFill>
          <a:ln w="12700" cap="flat" cmpd="sng">
            <a:solidFill>
              <a:srgbClr val="F59E0B">
                <a:alpha val="100000"/>
              </a:srgbClr>
            </a:solidFill>
            <a:prstDash val="solid"/>
            <a:round/>
          </a:ln>
        </p:spPr>
        <p:txBody>
          <a:bodyPr vert="horz" wrap="square" lIns="254000" tIns="0" rIns="25400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💡 综合结论：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OpenRPA 胜在</a:t>
            </a: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易用性与低门槛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，适合快速部署简单流程；而</a:t>
            </a: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Python+RobotFramework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</a:t>
            </a: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灵活性、AI扩展及系统性能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方面优势显著，更适合作为长期、复杂场景的稳健备选方案。</a:t>
            </a:r>
            <a:endParaRPr lang="en-US"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636</Words>
  <Application>Microsoft Office PowerPoint</Application>
  <PresentationFormat>宽屏</PresentationFormat>
  <Paragraphs>89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Noto Sans SC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a87076</dc:creator>
  <cp:lastModifiedBy>a87076</cp:lastModifiedBy>
  <cp:revision>23</cp:revision>
  <dcterms:created xsi:type="dcterms:W3CDTF">2026-05-22T03:39:09Z</dcterms:created>
  <dcterms:modified xsi:type="dcterms:W3CDTF">2026-05-22T07:30:34Z</dcterms:modified>
</cp:coreProperties>
</file>